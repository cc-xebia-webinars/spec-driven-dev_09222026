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4"/>
  </p:sldMasterIdLst>
  <p:notesMasterIdLst>
    <p:notesMasterId r:id="rId42"/>
  </p:notesMasterIdLst>
  <p:handoutMasterIdLst>
    <p:handoutMasterId r:id="rId43"/>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7E382B-9C36-7E49-84E8-BCE19F3983A8}">
          <p14:sldIdLst>
            <p14:sldId id="290"/>
          </p14:sldIdLst>
        </p14:section>
        <p14:section name="Best practices" id="{D9E1D182-6CB3-A340-86A3-096129157E2B}">
          <p14:sldIdLst>
            <p14:sldId id="287"/>
          </p14:sldIdLst>
        </p14:section>
        <p14:section name="Title slide" id="{6AB36275-C348-AC45-85CC-F165143366DA}">
          <p14:sldIdLst>
            <p14:sldId id="256"/>
            <p14:sldId id="257"/>
          </p14:sldIdLst>
        </p14:section>
        <p14:section name="Table of contents" id="{86CE6255-5E44-4749-A15C-64EEE2E9D874}">
          <p14:sldIdLst>
            <p14:sldId id="258"/>
            <p14:sldId id="259"/>
            <p14:sldId id="293"/>
          </p14:sldIdLst>
        </p14:section>
        <p14:section name="Speaker" id="{85A8668F-66EB-C54B-89FC-8F7FC62EE839}">
          <p14:sldIdLst>
            <p14:sldId id="260"/>
            <p14:sldId id="261"/>
          </p14:sldIdLst>
        </p14:section>
        <p14:section name="Basic slides" id="{D3120F04-6292-7743-BAA1-49B334691664}">
          <p14:sldIdLst>
            <p14:sldId id="262"/>
            <p14:sldId id="288"/>
            <p14:sldId id="289"/>
            <p14:sldId id="263"/>
            <p14:sldId id="264"/>
            <p14:sldId id="265"/>
            <p14:sldId id="266"/>
            <p14:sldId id="267"/>
            <p14:sldId id="268"/>
            <p14:sldId id="269"/>
          </p14:sldIdLst>
        </p14:section>
        <p14:section name="Slides with photos" id="{E56F723F-80B1-964E-97F9-92859EEE4ACA}">
          <p14:sldIdLst>
            <p14:sldId id="270"/>
            <p14:sldId id="271"/>
            <p14:sldId id="272"/>
            <p14:sldId id="273"/>
            <p14:sldId id="274"/>
            <p14:sldId id="292"/>
            <p14:sldId id="275"/>
            <p14:sldId id="291"/>
          </p14:sldIdLst>
        </p14:section>
        <p14:section name="Chapter" id="{02518A49-418B-8D42-B42E-5877408620A9}">
          <p14:sldIdLst>
            <p14:sldId id="276"/>
            <p14:sldId id="277"/>
          </p14:sldIdLst>
        </p14:section>
        <p14:section name="Contact" id="{F6674AEC-044C-8C4B-91EE-743F2C734E08}">
          <p14:sldIdLst>
            <p14:sldId id="279"/>
            <p14:sldId id="280"/>
          </p14:sldIdLst>
        </p14:section>
        <p14:section name="Additional systems" id="{4BA3E141-CA6D-3349-855D-3513418BA647}">
          <p14:sldIdLst>
            <p14:sldId id="283"/>
            <p14:sldId id="286"/>
            <p14:sldId id="284"/>
            <p14:sldId id="285"/>
          </p14:sldIdLst>
        </p14:section>
        <p14:section name="End cover" id="{BDD90832-9E3D-2741-ACCD-47E320043833}">
          <p14:sldIdLst>
            <p14:sldId id="281"/>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18D806-E6FF-8F50-3248-A5C31721EB4B}" name="Lukasz Jankowski" initials="LJ" userId="S::l.jankowski@tkhsecurity.com::8db01f9a-2cb7-4184-8075-6159447da6df" providerId="AD"/>
  <p188:author id="{92FFE837-73C3-6AC0-06CD-A1D070AF6CCC}" name="Tomasz Czyzkowski" initials="TC" userId="S::t.czyzkowski@tkhsecurity.com::cb391e26-0ec7-42b7-9d11-5fd467a61d0e" providerId="AD"/>
  <p188:author id="{0C85513B-BFFC-31EA-8110-F23643AA48B5}" name="James Blackhouse" initials="JB" userId="S::j.blackhouse@tkhsecurity.com::e9bee8b6-a9fd-46f1-a654-e9978a71fa20" providerId="AD"/>
  <p188:author id="{A7C98A5F-D624-C4C8-99CF-5D2436618900}" name="Michel Binnekade" initials="MB" userId="S::m.binnekade@tkhsecurity.com::025eaaf3-27f0-434a-beef-25af5024a4a8" providerId="AD"/>
  <p188:author id="{821F2196-9111-6A38-AA96-1131B7936930}" name="Maurice Moerkerk" initials="MM" userId="S::m.moerkerk@tkhsecurity.com::e5721b2c-9263-49ed-9592-4b00baa61d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Rodenhiser" initials="KR" lastIdx="1" clrIdx="0">
    <p:extLst>
      <p:ext uri="{19B8F6BF-5375-455C-9EA6-DF929625EA0E}">
        <p15:presenceInfo xmlns:p15="http://schemas.microsoft.com/office/powerpoint/2012/main" userId="b16a0975282699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E53"/>
    <a:srgbClr val="CCCC00"/>
    <a:srgbClr val="C5D800"/>
    <a:srgbClr val="000000"/>
    <a:srgbClr val="FFFFFF"/>
    <a:srgbClr val="BBBDC7"/>
    <a:srgbClr val="63666F"/>
    <a:srgbClr val="3C483A"/>
    <a:srgbClr val="3333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96327"/>
  </p:normalViewPr>
  <p:slideViewPr>
    <p:cSldViewPr snapToGrid="0">
      <p:cViewPr>
        <p:scale>
          <a:sx n="118" d="100"/>
          <a:sy n="118" d="100"/>
        </p:scale>
        <p:origin x="1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commentAuthors" Target="commentAuthor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DE0C97-FC84-4FA3-94B2-A2693F1DF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66CDB-08FD-4215-945B-F7E4727980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6A187C-FE9A-4CBF-8DC5-46EDAAA4812B}" type="datetimeFigureOut">
              <a:rPr lang="en-US" smtClean="0"/>
              <a:t>1/22/2025</a:t>
            </a:fld>
            <a:endParaRPr lang="en-US"/>
          </a:p>
        </p:txBody>
      </p:sp>
      <p:sp>
        <p:nvSpPr>
          <p:cNvPr id="4" name="Footer Placeholder 3">
            <a:extLst>
              <a:ext uri="{FF2B5EF4-FFF2-40B4-BE49-F238E27FC236}">
                <a16:creationId xmlns:a16="http://schemas.microsoft.com/office/drawing/2014/main" id="{42C9E8D8-AB29-4310-8001-F9AAE19A1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15E8FD-5003-4D3A-9435-D56C001B35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667EC5-5FFB-4456-A040-A0D3DA7290B4}" type="slidenum">
              <a:rPr lang="en-US" smtClean="0"/>
              <a:t>‹#›</a:t>
            </a:fld>
            <a:endParaRPr lang="en-US"/>
          </a:p>
        </p:txBody>
      </p:sp>
    </p:spTree>
    <p:extLst>
      <p:ext uri="{BB962C8B-B14F-4D97-AF65-F5344CB8AC3E}">
        <p14:creationId xmlns:p14="http://schemas.microsoft.com/office/powerpoint/2010/main" val="20119325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07F3D-707A-0642-BB43-33570534D262}" type="datetimeFigureOut">
              <a:rPr lang="nl-NL" smtClean="0"/>
              <a:t>22-1-2025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436E3-AA75-1C45-8244-94B7C1AF8735}" type="slidenum">
              <a:rPr lang="nl-NL" smtClean="0"/>
              <a:t>‹#›</a:t>
            </a:fld>
            <a:endParaRPr lang="nl-NL"/>
          </a:p>
        </p:txBody>
      </p:sp>
    </p:spTree>
    <p:extLst>
      <p:ext uri="{BB962C8B-B14F-4D97-AF65-F5344CB8AC3E}">
        <p14:creationId xmlns:p14="http://schemas.microsoft.com/office/powerpoint/2010/main" val="7279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a 90-minute session: roughly 20 minutes of slides and 70 minutes of live building. We'll take one feature, an expense policy validator for a Finance team, from a vague request to working, tested Python code. Questions go in the chat and I'll answer them while the tools are working. Everything is in the webinar repo, including all six demos. One note up front: we're using Spec Kit release 1.0.8, and the commands differ from most tutorials you'll find online.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topics, matching the agenda in the repo README. The first two set up the first demo. Topics three and four lead into writing a real spec. Then we plan, and the last two topics lead into implementation and changing the spec mid-flight. The slides are the skeleton; the real content is in the demos.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mode everyone recognises: twenty prompts in, the model has quietly redefined the feature. A spec doesn't replace the agent; it gives it a stable target to come back to. Be fair about this. For a one-file change, prompting is fine. Specs pay off on features complex enough that nobody can hold the whole thing in their head.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every demo. All nine workflow commands, in the recommended order. Note the hyphens: in 1.x you type /speckit-specify. Tutorials showing /specify are from the older 0.0.x releases. In Copilot these install as skills in .github/skills. The order is a recommendation rather than enforcement, and you can re-enter at any step. We'll walk the whole list today in four sittings.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01: open demos/01-prompt-vs-spec/app, show the four hard-coded constants, run uv run pytest, and walk the seven failures. Then demo 02: run uv run specify init --here --force --non-interactive --integration copilot --script py. Show the ten skills in .github/skills and the unfilled constitution template. Open the folder in VS Code (the demo folder, not the repo root), then run /speckit-constitution with the prompt file. Recovery: resources/reference/constitution.md.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headings are verbatim from the 1.0.8 spec template, including the 'mandatory' markers, and they're the four things the agenda promises: user stories, requirements, success criteria and open questions. Assumptions record what was decided without asking. Success criteria must be technology-free, which is the most-skipped rule and the one that keeps a spec reviewable by non-engineers. FR and SC numbering is what lets analyze cross-check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what real first drafts say. In each case the fix is a number, a date or a named behaviour. Every line on the right is a real requirement from the spec we build today, and each has tests named after it. The test for any requirement: could you write a failing test from it without asking a follow-up question? Constraints belong in the spec rather than the prompt, because the spec is what survives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the next demo walks through. The specify step caps itself at three clarification markers and only marks things with no sensible default. Clarify asks one question at a time, each with a recommended answer, and rewrites the requirement rather than just logging the answer. The last bullet is the second big 1.x change: there's no branch per feature anymore. The deliverable of this phase is a document a product owner could sign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demos/03-intent-to-spec/app as the VS Code workspace. Run /speckit-specify with resources/prompts/feature-request.md. Tour the four mandatory sections, then search for NEEDS CLARIFICATION: expect three markers. Run /speckit-clarify and answer from resources/prompts/clarify-answers.md, pausing after the first answer to show the file on disk. Close by diffing against resources/reference/spec.clarified.md. Never cut this demo; it's the core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gate line from the template word for word: 'GATE: Must pass before Phase 0 research. Re-check after Phase 1 design.' The constitution isn't decoration; the plan template won't proceed past it. Complexity Tracking is the honest escape hatch, where a broken rule is recorded with its reason rather than hidden. The plan also produces research.md, data-model.md, quickstart.md and contracts; name them on screen rather than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demos/04-plan-and-tasks/app. Run /speckit-plan with resources/prompts/plan-guidance.md and narrate resources/reference/plan.md while it works. Show the Constitution Check table passing. Run /speckit-checklist and look for the boundary-value item about exactly 500.00. Run /speckit-tasks, then /speckit-analyze. If analyze finds nothing, edit one FR line and run it again to show it notices. If behind, cut the checklist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demos run in GitHub Copilot, and the agenda names Claude Code too, so be clear: the same commands install for Claude Code and many other agents through the same specify init with a different --integration value. Only the file format differs. Keeping the model in scope isn't a prompting trick. It works because the task list is finite and written down, and the agent can see where it ends.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anti-pattern is patching the code and leaving the spec stale. Within two features the spec is fiction. Converge is the reconciliation step, and it's the one most people have never seen. In the next demo we change the receipt threshold in the spec and let the tools propagate it, and it turns out the whole change is data and tests. That's the thesis of the session in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demos/05-implement-and-iterate/app. Run uv run pytest first to show money tests passing and per-diem tests failing with task ids. Run /speckit-implement with resources/prompts/implement-scope.md, scoped to T009 to T015. Expect it to ask about the unchecked CHK013; say yes. Run uv run pytest again for the green payoff. Then the change request: edit the spec first, run /speckit-analyze and /speckit-converge. Finish on demo 06's traceability table. Recovery: copy resources/reference/src-completed into src and rerun the tests.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through the closing questions. Point people to demos/README.md for the setup and the version pin rather than reciting it. Mention the Xebia Academy link in the repo README. Thank the audience, then take the parked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dirty="0"/>
              <a:t>Title of the</a:t>
            </a:r>
            <a:br>
              <a:rPr lang="en-GB" dirty="0"/>
            </a:br>
            <a:r>
              <a:rPr lang="en-GB" dirty="0"/>
              <a:t>presentation</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08695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dirty="0"/>
              <a:t>Title of the</a:t>
            </a:r>
            <a:br>
              <a:rPr lang="en-GB" dirty="0"/>
            </a:br>
            <a:r>
              <a:rPr lang="en-GB" dirty="0"/>
              <a:t>presentation</a:t>
            </a:r>
            <a:endParaRPr lang="en-PL" dirty="0"/>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149049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81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73939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99433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61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631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6067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043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447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889887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dirty="0"/>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dirty="0"/>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dirty="0"/>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dirty="0"/>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116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dirty="0"/>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45601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2954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437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0552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74380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96420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77687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21024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398046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1657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dirty="0"/>
              <a:t>Title of contents</a:t>
            </a:r>
            <a:br>
              <a:rPr lang="en-GB" dirty="0"/>
            </a:br>
            <a:r>
              <a:rPr lang="en-GB" dirty="0"/>
              <a:t>max. 2 lines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dirty="0"/>
              <a:t>Chapter number</a:t>
            </a:r>
          </a:p>
        </p:txBody>
      </p:sp>
    </p:spTree>
    <p:extLst>
      <p:ext uri="{BB962C8B-B14F-4D97-AF65-F5344CB8AC3E}">
        <p14:creationId xmlns:p14="http://schemas.microsoft.com/office/powerpoint/2010/main" val="4150340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dirty="0"/>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8166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dirty="0"/>
              <a:t>Title of contents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2050367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dirty="0"/>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Tree>
    <p:extLst>
      <p:ext uri="{BB962C8B-B14F-4D97-AF65-F5344CB8AC3E}">
        <p14:creationId xmlns:p14="http://schemas.microsoft.com/office/powerpoint/2010/main" val="2536079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dirty="0"/>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987611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tx2"/>
                </a:solidFill>
              </a:rPr>
              <a:t>xebia.com</a:t>
            </a:r>
            <a:endParaRPr lang="en-GB" sz="1800" dirty="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67767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accent3"/>
                </a:solidFill>
              </a:rPr>
              <a:t>xebia.com</a:t>
            </a:r>
            <a:endParaRPr lang="en-GB" sz="1800" dirty="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9962894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dirty="0"/>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dirty="0"/>
          </a:p>
        </p:txBody>
      </p:sp>
    </p:spTree>
    <p:extLst>
      <p:ext uri="{BB962C8B-B14F-4D97-AF65-F5344CB8AC3E}">
        <p14:creationId xmlns:p14="http://schemas.microsoft.com/office/powerpoint/2010/main" val="4111661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99" r:id="rId8"/>
    <p:sldLayoutId id="2147483704"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705" r:id="rId25"/>
    <p:sldLayoutId id="2147483700" r:id="rId26"/>
    <p:sldLayoutId id="2147483701" r:id="rId27"/>
    <p:sldLayoutId id="2147483702" r:id="rId28"/>
    <p:sldLayoutId id="2147483703" r:id="rId29"/>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6" userDrawn="1">
          <p15:clr>
            <a:srgbClr val="F26B43"/>
          </p15:clr>
        </p15:guide>
        <p15:guide id="6"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From Intent to Implementation</a:t>
            </a:r>
          </a:p>
          <a:p>
            <a:r>
              <a:rPr sz="1600"/>
              <a:t>Eric Greene · Xebia</a:t>
            </a:r>
          </a:p>
        </p:txBody>
      </p:sp>
      <p:sp>
        <p:nvSpPr>
          <p:cNvPr id="3" name="Title 2"/>
          <p:cNvSpPr>
            <a:spLocks noGrp="1"/>
          </p:cNvSpPr>
          <p:nvPr>
            <p:ph type="title"/>
          </p:nvPr>
        </p:nvSpPr>
        <p:spPr/>
        <p:txBody>
          <a:bodyPr/>
          <a:lstStyle/>
          <a:p>
            <a:r>
              <a:t>Spec-Driven Development</a:t>
            </a:r>
          </a:p>
          <a:p>
            <a:r>
              <a:t>with GitHub Spec 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2000"/>
              <a:t>Why a spec beats another prompt</a:t>
            </a:r>
          </a:p>
          <a:p>
            <a:r>
              <a:rPr sz="2000"/>
              <a:t>Anatomy of a Spec Kit spec</a:t>
            </a:r>
          </a:p>
          <a:p>
            <a:r>
              <a:rPr sz="2000"/>
              <a:t>Writing specs an agent can follow</a:t>
            </a:r>
          </a:p>
          <a:p>
            <a:r>
              <a:rPr sz="2000"/>
              <a:t>From raw intent to a reviewable spec</a:t>
            </a:r>
          </a:p>
          <a:p>
            <a:r>
              <a:rPr sz="2000"/>
              <a:t>Driving GitHub Copilot and Claude Code from the spec</a:t>
            </a:r>
          </a:p>
          <a:p>
            <a:r>
              <a:rPr sz="2000"/>
              <a:t>Treating specs as living documents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spec beats another prompt</a:t>
            </a:r>
          </a:p>
        </p:txBody>
      </p:sp>
      <p:sp>
        <p:nvSpPr>
          <p:cNvPr id="3" name="Content Placeholder 2"/>
          <p:cNvSpPr>
            <a:spLocks noGrp="1"/>
          </p:cNvSpPr>
          <p:nvPr>
            <p:ph idx="1"/>
          </p:nvPr>
        </p:nvSpPr>
        <p:spPr/>
        <p:txBody>
          <a:bodyPr/>
          <a:lstStyle/>
          <a:p>
            <a:r>
              <a:rPr sz="1600"/>
              <a:t>Intent lives in a chat nobody rereads</a:t>
            </a:r>
          </a:p>
          <a:p>
            <a:r>
              <a:rPr sz="1600"/>
              <a:t>Each turn re-guesses what you meant</a:t>
            </a:r>
          </a:p>
        </p:txBody>
      </p:sp>
      <p:sp>
        <p:nvSpPr>
          <p:cNvPr id="4" name="Text Placeholder 3"/>
          <p:cNvSpPr>
            <a:spLocks noGrp="1"/>
          </p:cNvSpPr>
          <p:nvPr>
            <p:ph type="body" idx="11" sz="quarter"/>
          </p:nvPr>
        </p:nvSpPr>
        <p:spPr/>
        <p:txBody>
          <a:bodyPr/>
          <a:lstStyle/>
          <a:p>
            <a:r>
              <a:rPr sz="1600"/>
              <a:t>Prompt by prompt</a:t>
            </a:r>
          </a:p>
        </p:txBody>
      </p:sp>
      <p:sp>
        <p:nvSpPr>
          <p:cNvPr id="5" name="Content Placeholder 4"/>
          <p:cNvSpPr>
            <a:spLocks noGrp="1"/>
          </p:cNvSpPr>
          <p:nvPr>
            <p:ph idx="13"/>
          </p:nvPr>
        </p:nvSpPr>
        <p:spPr/>
        <p:txBody>
          <a:bodyPr/>
          <a:lstStyle/>
          <a:p>
            <a:r>
              <a:rPr sz="1600"/>
              <a:t>Drift shows up in review, not production</a:t>
            </a:r>
          </a:p>
          <a:p>
            <a:r>
              <a:rPr sz="1600"/>
              <a:t>Someone else can pick the feature up</a:t>
            </a:r>
          </a:p>
        </p:txBody>
      </p:sp>
      <p:sp>
        <p:nvSpPr>
          <p:cNvPr id="6" name="Text Placeholder 5"/>
          <p:cNvSpPr>
            <a:spLocks noGrp="1"/>
          </p:cNvSpPr>
          <p:nvPr>
            <p:ph type="body" idx="14" sz="quarter"/>
          </p:nvPr>
        </p:nvSpPr>
        <p:spPr/>
        <p:txBody>
          <a:bodyPr/>
          <a:lstStyle/>
          <a:p>
            <a:r>
              <a:rPr sz="1600"/>
              <a:t>What that buys you</a:t>
            </a:r>
          </a:p>
        </p:txBody>
      </p:sp>
      <p:sp>
        <p:nvSpPr>
          <p:cNvPr id="7" name="Content Placeholder 6"/>
          <p:cNvSpPr>
            <a:spLocks noGrp="1"/>
          </p:cNvSpPr>
          <p:nvPr>
            <p:ph idx="16"/>
          </p:nvPr>
        </p:nvSpPr>
        <p:spPr/>
        <p:txBody>
          <a:bodyPr/>
          <a:lstStyle/>
          <a:p>
            <a:r>
              <a:rPr sz="1600"/>
              <a:t>Intent lives in a file the agent rereads</a:t>
            </a:r>
          </a:p>
          <a:p>
            <a:r>
              <a:rPr sz="1600"/>
              <a:t>Each turn starts from the same written goal</a:t>
            </a:r>
          </a:p>
        </p:txBody>
      </p:sp>
      <p:sp>
        <p:nvSpPr>
          <p:cNvPr id="8" name="Text Placeholder 7"/>
          <p:cNvSpPr>
            <a:spLocks noGrp="1"/>
          </p:cNvSpPr>
          <p:nvPr>
            <p:ph type="body" idx="17" sz="quarter"/>
          </p:nvPr>
        </p:nvSpPr>
        <p:spPr/>
        <p:txBody>
          <a:bodyPr/>
          <a:lstStyle/>
          <a:p>
            <a:r>
              <a:rPr sz="1600"/>
              <a:t>Spec first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Spec Kit workflow</a:t>
            </a:r>
          </a:p>
        </p:txBody>
      </p:sp>
      <p:sp>
        <p:nvSpPr>
          <p:cNvPr id="3" name="Content Placeholder 2"/>
          <p:cNvSpPr>
            <a:spLocks noGrp="1"/>
          </p:cNvSpPr>
          <p:nvPr>
            <p:ph idx="1"/>
          </p:nvPr>
        </p:nvSpPr>
        <p:spPr/>
        <p:txBody>
          <a:bodyPr/>
          <a:lstStyle/>
          <a:p>
            <a:r>
              <a:rPr sz="2000">
                <a:latin typeface="Consolas"/>
              </a:rPr>
              <a:t>/speckit-constitution</a:t>
            </a:r>
            <a:r>
              <a:rPr sz="2000"/>
              <a:t> — rules that outlive one feature</a:t>
            </a:r>
          </a:p>
          <a:p>
            <a:r>
              <a:rPr sz="2000">
                <a:latin typeface="Consolas"/>
              </a:rPr>
              <a:t>/speckit-specify</a:t>
            </a:r>
            <a:r>
              <a:rPr sz="2000"/>
              <a:t> and </a:t>
            </a:r>
            <a:r>
              <a:rPr sz="2000">
                <a:latin typeface="Consolas"/>
              </a:rPr>
              <a:t>/speckit-clarify</a:t>
            </a:r>
            <a:r>
              <a:rPr sz="2000"/>
              <a:t> — what, why, and open questions</a:t>
            </a:r>
          </a:p>
          <a:p>
            <a:r>
              <a:rPr sz="2000">
                <a:latin typeface="Consolas"/>
              </a:rPr>
              <a:t>/speckit-plan</a:t>
            </a:r>
            <a:r>
              <a:rPr sz="2000"/>
              <a:t> — how it's built, checked against the rules</a:t>
            </a:r>
          </a:p>
          <a:p>
            <a:r>
              <a:rPr sz="2000">
                <a:latin typeface="Consolas"/>
              </a:rPr>
              <a:t>/speckit-checklist</a:t>
            </a:r>
            <a:r>
              <a:rPr sz="2000"/>
              <a:t> — unit tests for the English</a:t>
            </a:r>
          </a:p>
          <a:p>
            <a:r>
              <a:rPr sz="2000">
                <a:latin typeface="Consolas"/>
              </a:rPr>
              <a:t>/speckit-tasks</a:t>
            </a:r>
            <a:r>
              <a:rPr sz="2000"/>
              <a:t> and </a:t>
            </a:r>
            <a:r>
              <a:rPr sz="2000">
                <a:latin typeface="Consolas"/>
              </a:rPr>
              <a:t>/speckit-analyze</a:t>
            </a:r>
            <a:r>
              <a:rPr sz="2000"/>
              <a:t> — ordered work, then consistency</a:t>
            </a:r>
          </a:p>
          <a:p>
            <a:r>
              <a:rPr sz="2000">
                <a:latin typeface="Consolas"/>
              </a:rPr>
              <a:t>/speckit-implement</a:t>
            </a:r>
            <a:r>
              <a:rPr sz="2000"/>
              <a:t> and </a:t>
            </a:r>
            <a:r>
              <a:rPr sz="2000">
                <a:latin typeface="Consolas"/>
              </a:rPr>
              <a:t>/speckit-converge</a:t>
            </a:r>
            <a:r>
              <a:rPr sz="2000"/>
              <a:t> — build it, then close gaps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1 — From prompt to constitution</a:t>
            </a:r>
          </a:p>
        </p:txBody>
      </p:sp>
      <p:sp>
        <p:nvSpPr>
          <p:cNvPr id="3" name="Content Placeholder 2"/>
          <p:cNvSpPr>
            <a:spLocks noGrp="1"/>
          </p:cNvSpPr>
          <p:nvPr>
            <p:ph idx="1"/>
          </p:nvPr>
        </p:nvSpPr>
        <p:spPr/>
        <p:txBody>
          <a:bodyPr/>
          <a:lstStyle/>
          <a:p>
            <a:r>
              <a:rPr sz="1600"/>
              <a:t>Demos 01 and 02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of a Spec Kit spec</a:t>
            </a:r>
          </a:p>
        </p:txBody>
      </p:sp>
      <p:sp>
        <p:nvSpPr>
          <p:cNvPr id="3" name="Content Placeholder 2"/>
          <p:cNvSpPr>
            <a:spLocks noGrp="1"/>
          </p:cNvSpPr>
          <p:nvPr>
            <p:ph idx="1"/>
          </p:nvPr>
        </p:nvSpPr>
        <p:spPr/>
        <p:txBody>
          <a:bodyPr/>
          <a:lstStyle/>
          <a:p>
            <a:r>
              <a:rPr sz="2000">
                <a:latin typeface="Consolas"/>
              </a:rPr>
              <a:t>## User Scenarios &amp; Testing *(mandatory)*</a:t>
            </a:r>
            <a:r>
              <a:rPr sz="2000"/>
              <a:t> — P1, P2, P3</a:t>
            </a:r>
          </a:p>
          <a:p>
            <a:r>
              <a:rPr sz="2000"/>
              <a:t>Each story has Given / When / Then acceptance scenarios</a:t>
            </a:r>
          </a:p>
          <a:p>
            <a:r>
              <a:rPr sz="2000">
                <a:latin typeface="Consolas"/>
              </a:rPr>
              <a:t>## Requirements *(mandatory)*</a:t>
            </a:r>
            <a:r>
              <a:rPr sz="2000"/>
              <a:t> — numbered </a:t>
            </a:r>
            <a:r>
              <a:rPr sz="2000">
                <a:latin typeface="Consolas"/>
              </a:rPr>
              <a:t>FR-001</a:t>
            </a:r>
            <a:r>
              <a:rPr sz="2000"/>
              <a:t> onward</a:t>
            </a:r>
          </a:p>
          <a:p>
            <a:r>
              <a:rPr sz="2000">
                <a:latin typeface="Consolas"/>
              </a:rPr>
              <a:t>## Success Criteria *(mandatory)*</a:t>
            </a:r>
            <a:r>
              <a:rPr sz="2000"/>
              <a:t> — measurable, </a:t>
            </a:r>
            <a:r>
              <a:rPr sz="2000">
                <a:latin typeface="Consolas"/>
              </a:rPr>
              <a:t>SC-001</a:t>
            </a:r>
            <a:r>
              <a:rPr sz="2000"/>
              <a:t> onward</a:t>
            </a:r>
          </a:p>
          <a:p>
            <a:r>
              <a:rPr sz="2000">
                <a:latin typeface="Consolas"/>
              </a:rPr>
              <a:t>## Assumptions</a:t>
            </a:r>
            <a:r>
              <a:rPr sz="2000"/>
              <a:t> — defaults chosen instead of asking</a:t>
            </a:r>
          </a:p>
          <a:p>
            <a:r>
              <a:rPr sz="2000">
                <a:latin typeface="Consolas"/>
              </a:rPr>
              <a:t>[NEEDS CLARIFICATION: …]</a:t>
            </a:r>
            <a:r>
              <a:rPr sz="2000"/>
              <a:t> — the marker that stops guessing</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Requirements an agent can act on</a:t>
            </a:r>
          </a:p>
        </p:txBody>
      </p:sp>
      <p:sp>
        <p:nvSpPr>
          <p:cNvPr id="3" name="Content Placeholder 2"/>
          <p:cNvSpPr>
            <a:spLocks noGrp="1"/>
          </p:cNvSpPr>
          <p:nvPr>
            <p:ph idx="1"/>
          </p:nvPr>
        </p:nvSpPr>
        <p:spPr>
          <a:xfrm>
            <a:off x="554037" y="2596896"/>
            <a:ext cx="5349876" cy="3712463"/>
          </a:xfrm>
        </p:spPr>
        <p:txBody>
          <a:bodyPr/>
          <a:lstStyle/>
          <a:p>
            <a:r>
              <a:rPr sz="1600"/>
              <a:t>Handle currency sensibly</a:t>
            </a:r>
          </a:p>
          <a:p>
            <a:r>
              <a:rPr sz="1600"/>
              <a:t>Receipts are needed for large expenses</a:t>
            </a:r>
          </a:p>
          <a:p>
            <a:r>
              <a:rPr sz="1600"/>
              <a:t>Approvals go to the right manager</a:t>
            </a:r>
          </a:p>
        </p:txBody>
      </p:sp>
      <p:sp>
        <p:nvSpPr>
          <p:cNvPr id="4" name="Text Placeholder 3"/>
          <p:cNvSpPr>
            <a:spLocks noGrp="1"/>
          </p:cNvSpPr>
          <p:nvPr>
            <p:ph type="body" idx="11" sz="quarter"/>
          </p:nvPr>
        </p:nvSpPr>
        <p:spPr>
          <a:xfrm>
            <a:off x="554037" y="1975104"/>
            <a:ext cx="5349876" cy="444507"/>
          </a:xfrm>
        </p:spPr>
        <p:txBody>
          <a:bodyPr/>
          <a:lstStyle/>
          <a:p>
            <a:r>
              <a:rPr sz="1600"/>
              <a:t>Too loose</a:t>
            </a:r>
          </a:p>
        </p:txBody>
      </p:sp>
      <p:sp>
        <p:nvSpPr>
          <p:cNvPr id="6" name="Content Placeholder 5"/>
          <p:cNvSpPr>
            <a:spLocks noGrp="1"/>
          </p:cNvSpPr>
          <p:nvPr>
            <p:ph idx="13"/>
          </p:nvPr>
        </p:nvSpPr>
        <p:spPr>
          <a:xfrm>
            <a:off x="6291261" y="2596896"/>
            <a:ext cx="5349876" cy="3712463"/>
          </a:xfrm>
        </p:spPr>
        <p:txBody>
          <a:bodyPr/>
          <a:lstStyle/>
          <a:p>
            <a:r>
              <a:rPr sz="1600">
                <a:latin typeface="Consolas"/>
              </a:rPr>
              <a:t>FR-004</a:t>
            </a:r>
            <a:r>
              <a:rPr sz="1600"/>
              <a:t>: convert at the transaction date's rate</a:t>
            </a:r>
          </a:p>
          <a:p>
            <a:r>
              <a:rPr sz="1600">
                <a:latin typeface="Consolas"/>
              </a:rPr>
              <a:t>FR-006</a:t>
            </a:r>
            <a:r>
              <a:rPr sz="1600"/>
              <a:t>: require a receipt above 75 USD</a:t>
            </a:r>
          </a:p>
          <a:p>
            <a:r>
              <a:rPr sz="1600">
                <a:latin typeface="Consolas"/>
              </a:rPr>
              <a:t>FR-009</a:t>
            </a:r>
            <a:r>
              <a:rPr sz="1600"/>
              <a:t>: exit 0 clean, 1 violations, 2 bad input</a:t>
            </a:r>
          </a:p>
        </p:txBody>
      </p:sp>
      <p:sp>
        <p:nvSpPr>
          <p:cNvPr id="7" name="Text Placeholder 6"/>
          <p:cNvSpPr>
            <a:spLocks noGrp="1"/>
          </p:cNvSpPr>
          <p:nvPr>
            <p:ph type="body" idx="14" sz="quarter"/>
          </p:nvPr>
        </p:nvSpPr>
        <p:spPr>
          <a:xfrm>
            <a:off x="6291261" y="1975104"/>
            <a:ext cx="5349876" cy="444507"/>
          </a:xfrm>
        </p:spPr>
        <p:txBody>
          <a:bodyPr/>
          <a:lstStyle/>
          <a:p>
            <a:r>
              <a:rPr sz="1600"/>
              <a:t>Testable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raw intent to a reviewable spec</a:t>
            </a:r>
          </a:p>
        </p:txBody>
      </p:sp>
      <p:sp>
        <p:nvSpPr>
          <p:cNvPr id="3" name="Content Placeholder 2"/>
          <p:cNvSpPr>
            <a:spLocks noGrp="1"/>
          </p:cNvSpPr>
          <p:nvPr>
            <p:ph idx="1"/>
          </p:nvPr>
        </p:nvSpPr>
        <p:spPr/>
        <p:txBody>
          <a:bodyPr/>
          <a:lstStyle/>
          <a:p>
            <a:r>
              <a:rPr sz="2000"/>
              <a:t>Start from one honest paragraph of intent</a:t>
            </a:r>
          </a:p>
          <a:p>
            <a:r>
              <a:rPr sz="2000">
                <a:latin typeface="Consolas"/>
              </a:rPr>
              <a:t>/speckit-specify</a:t>
            </a:r>
            <a:r>
              <a:rPr sz="2000"/>
              <a:t> drafts the spec into </a:t>
            </a:r>
            <a:r>
              <a:rPr sz="2000">
                <a:latin typeface="Consolas"/>
              </a:rPr>
              <a:t>specs/001-…/</a:t>
            </a:r>
          </a:p>
          <a:p>
            <a:r>
              <a:rPr sz="2000"/>
              <a:t>Unclear points are marked, not guessed</a:t>
            </a:r>
          </a:p>
          <a:p>
            <a:r>
              <a:rPr sz="2000">
                <a:latin typeface="Consolas"/>
              </a:rPr>
              <a:t>/speckit-clarify</a:t>
            </a:r>
            <a:r>
              <a:rPr sz="2000"/>
              <a:t> asks up to five questions, one at a time</a:t>
            </a:r>
          </a:p>
          <a:p>
            <a:r>
              <a:rPr sz="2000"/>
              <a:t>Answers are written back into the requirements</a:t>
            </a:r>
          </a:p>
          <a:p>
            <a:r>
              <a:rPr sz="2000"/>
              <a:t>No git branch: </a:t>
            </a:r>
            <a:r>
              <a:rPr sz="2000">
                <a:latin typeface="Consolas"/>
              </a:rPr>
              <a:t>.specify/feature.json</a:t>
            </a:r>
            <a:r>
              <a:rPr sz="2000"/>
              <a:t> tracks the feature</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2 — From intent to a spec</a:t>
            </a:r>
          </a:p>
        </p:txBody>
      </p:sp>
      <p:sp>
        <p:nvSpPr>
          <p:cNvPr id="3" name="Content Placeholder 2"/>
          <p:cNvSpPr>
            <a:spLocks noGrp="1"/>
          </p:cNvSpPr>
          <p:nvPr>
            <p:ph idx="1"/>
          </p:nvPr>
        </p:nvSpPr>
        <p:spPr/>
        <p:txBody>
          <a:bodyPr/>
          <a:lstStyle/>
          <a:p>
            <a:r>
              <a:rPr sz="1600"/>
              <a:t>Demo 03 · about 16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plan and its guardrails</a:t>
            </a:r>
          </a:p>
        </p:txBody>
      </p:sp>
      <p:sp>
        <p:nvSpPr>
          <p:cNvPr id="3" name="Content Placeholder 2"/>
          <p:cNvSpPr>
            <a:spLocks noGrp="1"/>
          </p:cNvSpPr>
          <p:nvPr>
            <p:ph idx="1"/>
          </p:nvPr>
        </p:nvSpPr>
        <p:spPr/>
        <p:txBody>
          <a:bodyPr/>
          <a:lstStyle/>
          <a:p>
            <a:r>
              <a:rPr sz="2000">
                <a:latin typeface="Consolas"/>
              </a:rPr>
              <a:t>plan.md</a:t>
            </a:r>
            <a:r>
              <a:rPr sz="2000"/>
              <a:t> answers how, after the spec answers what</a:t>
            </a:r>
          </a:p>
          <a:p>
            <a:r>
              <a:rPr sz="2000">
                <a:latin typeface="Consolas"/>
              </a:rPr>
              <a:t>## Technical Context</a:t>
            </a:r>
            <a:r>
              <a:rPr sz="2000"/>
              <a:t> pins language, dependencies, constraints</a:t>
            </a:r>
          </a:p>
          <a:p>
            <a:r>
              <a:rPr sz="2000">
                <a:latin typeface="Consolas"/>
              </a:rPr>
              <a:t>## Constitution Check</a:t>
            </a:r>
            <a:r>
              <a:rPr sz="2000"/>
              <a:t> rereads the rules you wrote first</a:t>
            </a:r>
          </a:p>
          <a:p>
            <a:r>
              <a:rPr sz="2000"/>
              <a:t>Gate: pass before research, recheck after design</a:t>
            </a:r>
          </a:p>
          <a:p>
            <a:r>
              <a:rPr sz="2000">
                <a:latin typeface="Consolas"/>
              </a:rPr>
              <a:t>## Complexity Tracking</a:t>
            </a:r>
            <a:r>
              <a:rPr sz="2000"/>
              <a:t> records any rule you bend</a:t>
            </a:r>
          </a:p>
          <a:p>
            <a:r>
              <a:rPr sz="2000">
                <a:latin typeface="Consolas"/>
              </a:rPr>
              <a:t>/speckit-checklist</a:t>
            </a:r>
            <a:r>
              <a:rPr sz="2000"/>
              <a:t> then tests the spec's English</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3 — Plan, tasks, and analyze</a:t>
            </a:r>
          </a:p>
        </p:txBody>
      </p:sp>
      <p:sp>
        <p:nvSpPr>
          <p:cNvPr id="3" name="Content Placeholder 2"/>
          <p:cNvSpPr>
            <a:spLocks noGrp="1"/>
          </p:cNvSpPr>
          <p:nvPr>
            <p:ph idx="1"/>
          </p:nvPr>
        </p:nvSpPr>
        <p:spPr/>
        <p:txBody>
          <a:bodyPr/>
          <a:lstStyle/>
          <a:p>
            <a:r>
              <a:rPr sz="1600"/>
              <a:t>Demo 04 · about 14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Driving the agent from the spec</a:t>
            </a:r>
          </a:p>
        </p:txBody>
      </p:sp>
      <p:sp>
        <p:nvSpPr>
          <p:cNvPr id="3" name="Content Placeholder 2"/>
          <p:cNvSpPr>
            <a:spLocks noGrp="1"/>
          </p:cNvSpPr>
          <p:nvPr>
            <p:ph idx="1"/>
          </p:nvPr>
        </p:nvSpPr>
        <p:spPr/>
        <p:txBody>
          <a:bodyPr/>
          <a:lstStyle/>
          <a:p>
            <a:r>
              <a:rPr sz="2000">
                <a:latin typeface="Consolas"/>
              </a:rPr>
              <a:t>/speckit-tasks</a:t>
            </a:r>
            <a:r>
              <a:rPr sz="2000"/>
              <a:t> turns the plan into ordered, numbered work</a:t>
            </a:r>
          </a:p>
          <a:p>
            <a:r>
              <a:rPr sz="2000">
                <a:latin typeface="Consolas"/>
              </a:rPr>
              <a:t>/speckit-implement</a:t>
            </a:r>
            <a:r>
              <a:rPr sz="2000"/>
              <a:t> works the list, not a chat history</a:t>
            </a:r>
          </a:p>
          <a:p>
            <a:r>
              <a:rPr sz="2000"/>
              <a:t>Scope a run to one story's tasks</a:t>
            </a:r>
          </a:p>
          <a:p>
            <a:r>
              <a:rPr sz="2000"/>
              <a:t>In Copilot, commands install as skills in </a:t>
            </a:r>
            <a:r>
              <a:rPr sz="2000">
                <a:latin typeface="Consolas"/>
              </a:rPr>
              <a:t>.github/skills/</a:t>
            </a:r>
          </a:p>
          <a:p>
            <a:r>
              <a:rPr sz="2000"/>
              <a:t>Claude Code and others get the same commands</a:t>
            </a:r>
          </a:p>
          <a:p>
            <a:r>
              <a:rPr sz="2000"/>
              <a:t>Scope creep shows up as an unplanned task</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Specs as living documents</a:t>
            </a:r>
          </a:p>
        </p:txBody>
      </p:sp>
      <p:sp>
        <p:nvSpPr>
          <p:cNvPr id="3" name="Content Placeholder 2"/>
          <p:cNvSpPr>
            <a:spLocks noGrp="1"/>
          </p:cNvSpPr>
          <p:nvPr>
            <p:ph idx="1"/>
          </p:nvPr>
        </p:nvSpPr>
        <p:spPr/>
        <p:txBody>
          <a:bodyPr/>
          <a:lstStyle/>
          <a:p>
            <a:r>
              <a:rPr sz="2000"/>
              <a:t>Requirement changed? Edit the spec first, then replan</a:t>
            </a:r>
          </a:p>
          <a:p>
            <a:r>
              <a:rPr sz="2000">
                <a:latin typeface="Consolas"/>
              </a:rPr>
              <a:t>/speckit-analyze</a:t>
            </a:r>
            <a:r>
              <a:rPr sz="2000"/>
              <a:t> catches spec and tasks drifting apart</a:t>
            </a:r>
          </a:p>
          <a:p>
            <a:r>
              <a:rPr sz="2000">
                <a:latin typeface="Consolas"/>
              </a:rPr>
              <a:t>/speckit-converge</a:t>
            </a:r>
            <a:r>
              <a:rPr sz="2000"/>
              <a:t> turns the gaps into new tasks</a:t>
            </a:r>
          </a:p>
          <a:p>
            <a:r>
              <a:rPr sz="2000"/>
              <a:t>Policy in data means many changes never touch code</a:t>
            </a:r>
          </a:p>
          <a:p>
            <a:r>
              <a:rPr sz="2000"/>
              <a:t>Put the spec diff in the same pull request</a:t>
            </a:r>
          </a:p>
          <a:p>
            <a:r>
              <a:rPr sz="2000"/>
              <a:t>The spec becomes onboarding for whoever comes next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4 — Implement and converge</a:t>
            </a:r>
          </a:p>
        </p:txBody>
      </p:sp>
      <p:sp>
        <p:nvSpPr>
          <p:cNvPr id="3" name="Content Placeholder 2"/>
          <p:cNvSpPr>
            <a:spLocks noGrp="1"/>
          </p:cNvSpPr>
          <p:nvPr>
            <p:ph idx="1"/>
          </p:nvPr>
        </p:nvSpPr>
        <p:spPr/>
        <p:txBody>
          <a:bodyPr/>
          <a:lstStyle/>
          <a:p>
            <a:r>
              <a:rPr sz="1600"/>
              <a:t>Demos 05 and 06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and next steps</a:t>
            </a:r>
          </a:p>
        </p:txBody>
      </p:sp>
      <p:sp>
        <p:nvSpPr>
          <p:cNvPr id="3" name="Content Placeholder 2"/>
          <p:cNvSpPr>
            <a:spLocks noGrp="1"/>
          </p:cNvSpPr>
          <p:nvPr>
            <p:ph idx="1"/>
          </p:nvPr>
        </p:nvSpPr>
        <p:spPr/>
        <p:txBody>
          <a:bodyPr/>
          <a:lstStyle/>
          <a:p>
            <a:r>
              <a:rPr sz="2000"/>
              <a:t>Slides and all six demos are in the webinar repo</a:t>
            </a:r>
          </a:p>
          <a:p>
            <a:r>
              <a:rPr sz="2000"/>
              <a:t>Pin Spec Kit, then </a:t>
            </a:r>
            <a:r>
              <a:rPr sz="2000">
                <a:latin typeface="Consolas"/>
              </a:rPr>
              <a:t>specify init . --integration copilot</a:t>
            </a:r>
          </a:p>
          <a:p>
            <a:r>
              <a:rPr sz="2000"/>
              <a:t>Write the constitution before your first spec</a:t>
            </a:r>
          </a:p>
          <a:p>
            <a:r>
              <a:rPr sz="2000"/>
              <a:t>Try it on one real feature, not a toy</a:t>
            </a:r>
          </a:p>
          <a:p>
            <a:r>
              <a:rPr sz="2000"/>
              <a:t>Put the spec in the pull request</a:t>
            </a:r>
          </a:p>
          <a:p>
            <a:r>
              <a:rPr sz="2000">
                <a:latin typeface="Consolas"/>
              </a:rPr>
              <a:t>eric.greene@xebia.com</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theme/theme1.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429cfea-3f0d-4981-afe7-a053f7e299d1" xsi:nil="true"/>
    <lcf76f155ced4ddcb4097134ff3c332f xmlns="0e9c8240-0719-4f83-aadb-247aaf4e8de8">
      <Terms xmlns="http://schemas.microsoft.com/office/infopath/2007/PartnerControls"/>
    </lcf76f155ced4ddcb4097134ff3c332f>
    <SharedWithUsers xmlns="5429cfea-3f0d-4981-afe7-a053f7e299d1">
      <UserInfo>
        <DisplayName>Mark van Holsteijn</DisplayName>
        <AccountId>176</AccountId>
        <AccountType/>
      </UserInfo>
      <UserInfo>
        <DisplayName>Helen George</DisplayName>
        <AccountId>100</AccountId>
        <AccountType/>
      </UserInfo>
      <UserInfo>
        <DisplayName>SharingLinks.63f329ba-d967-4e2d-9e73-8049d22482e0.Flexible.425a05da-91c8-4f83-93c3-8c09d042b607</DisplayName>
        <AccountId>34</AccountId>
        <AccountType/>
      </UserInfo>
      <UserInfo>
        <DisplayName>Vivian Andringa</DisplayName>
        <AccountId>120</AccountId>
        <AccountType/>
      </UserInfo>
      <UserInfo>
        <DisplayName>Keith Landis</DisplayName>
        <AccountId>70</AccountId>
        <AccountType/>
      </UserInfo>
      <UserInfo>
        <DisplayName>Maureen Elsberry</DisplayName>
        <AccountId>44</AccountId>
        <AccountType/>
      </UserInfo>
      <UserInfo>
        <DisplayName>Israel Barriga</DisplayName>
        <AccountId>89</AccountId>
        <AccountType/>
      </UserInfo>
      <UserInfo>
        <DisplayName>Vivian Andringa</DisplayName>
        <AccountId>112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E81B3CF7ADF648A6EB7541842D17A0" ma:contentTypeVersion="15" ma:contentTypeDescription="Een nieuw document maken." ma:contentTypeScope="" ma:versionID="81c1c1ccc732741dd2d37df4029929c0">
  <xsd:schema xmlns:xsd="http://www.w3.org/2001/XMLSchema" xmlns:xs="http://www.w3.org/2001/XMLSchema" xmlns:p="http://schemas.microsoft.com/office/2006/metadata/properties" xmlns:ns2="0e9c8240-0719-4f83-aadb-247aaf4e8de8" xmlns:ns3="5429cfea-3f0d-4981-afe7-a053f7e299d1" targetNamespace="http://schemas.microsoft.com/office/2006/metadata/properties" ma:root="true" ma:fieldsID="f3ae7d64ef20f0e43788b5c1083d35e7" ns2:_="" ns3:_="">
    <xsd:import namespace="0e9c8240-0719-4f83-aadb-247aaf4e8de8"/>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9c8240-0719-4f83-aadb-247aaf4e8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7BF0F8-7136-465C-A2E0-57A9192CF1F1}">
  <ds:schemaRefs>
    <ds:schemaRef ds:uri="http://schemas.microsoft.com/sharepoint/v3/contenttype/forms"/>
  </ds:schemaRefs>
</ds:datastoreItem>
</file>

<file path=customXml/itemProps2.xml><?xml version="1.0" encoding="utf-8"?>
<ds:datastoreItem xmlns:ds="http://schemas.openxmlformats.org/officeDocument/2006/customXml" ds:itemID="{B1A13215-7381-4E66-93E2-484FCC1A2A68}">
  <ds:schemaRef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5429cfea-3f0d-4981-afe7-a053f7e299d1"/>
    <ds:schemaRef ds:uri="http://purl.org/dc/dcmitype/"/>
    <ds:schemaRef ds:uri="http://schemas.microsoft.com/office/infopath/2007/PartnerControls"/>
    <ds:schemaRef ds:uri="http://purl.org/dc/terms/"/>
    <ds:schemaRef ds:uri="0e9c8240-0719-4f83-aadb-247aaf4e8de8"/>
    <ds:schemaRef ds:uri="http://www.w3.org/XML/1998/namespace"/>
  </ds:schemaRefs>
</ds:datastoreItem>
</file>

<file path=customXml/itemProps3.xml><?xml version="1.0" encoding="utf-8"?>
<ds:datastoreItem xmlns:ds="http://schemas.openxmlformats.org/officeDocument/2006/customXml" ds:itemID="{4A223097-69D6-45EB-AA94-D02C86426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9c8240-0719-4f83-aadb-247aaf4e8de8"/>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Xebia_General-Template</Template>
  <TotalTime>0</TotalTime>
  <Words>806</Words>
  <Application>Microsoft Office PowerPoint</Application>
  <PresentationFormat>Widescreen</PresentationFormat>
  <Paragraphs>117</Paragraphs>
  <Slides>37</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Custom Design</vt:lpstr>
      <vt:lpstr>PPT General Template</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Garron</dc:creator>
  <cp:lastModifiedBy>Martha Garron</cp:lastModifiedBy>
  <cp:revision>1</cp:revision>
  <cp:lastPrinted>2023-11-23T01:40:48Z</cp:lastPrinted>
  <dcterms:created xsi:type="dcterms:W3CDTF">2025-01-23T01:36:07Z</dcterms:created>
  <dcterms:modified xsi:type="dcterms:W3CDTF">2025-01-23T01:36:43Z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0x01010070E81B3CF7ADF648A6EB7541842D17A0</vt:lpwstr>
  </property>
  <property fmtid="{D5CDD505-2E9C-101B-9397-08002B2CF9AE}" pid="3" name="MediaServiceImageTags">
    <vt:lpwstr/>
  </property>
</Properties>
</file>